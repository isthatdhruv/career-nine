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-354" y="-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</a:rPr>
              <a:t>Counselling Module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3657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9D6E8"/>
                </a:solidFill>
              </a:rPr>
              <a:t>Post-assessment counselling, scheduling &amp; reporting for Career-9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172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</a:rPr>
              <a:t>Career-9  •  Internal Planning Deck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7315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Problem We're Solving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5"/>
                </a:solidFill>
              </a:rPr>
              <a:t>Students complete assessments and get a report — then nothing happens.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0B2545"/>
                </a:solidFill>
              </a:rPr>
              <a:t>No structured way to convert assessment insights into action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0B2545"/>
                </a:solidFill>
              </a:rPr>
              <a:t>Schools want to offer counselling but lack scheduling infrastructure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0B2545"/>
                </a:solidFill>
              </a:rPr>
              <a:t>No revenue stream from individual students who want guidance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0B2545"/>
                </a:solidFill>
              </a:rPr>
              <a:t>Counsellors have no platform to manage allocations, slots, and student reports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0B2545"/>
                </a:solidFill>
              </a:rPr>
              <a:t>Manual coordination over WhatsApp/email — error-prone and unscalable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B2545"/>
                </a:solidFill>
              </a:rPr>
              <a:t>Goal: One unified flow from assessment → counsellor → outcome, with full audit trail.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7315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Three Counselling Tracks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657600" cy="822960"/>
          </a:xfrm>
          <a:prstGeom prst="rect">
            <a:avLst/>
          </a:prstGeom>
          <a:solidFill>
            <a:srgbClr val="1E5AA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25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EVENT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</a:rPr>
              <a:t>School-sponsored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3657600" cy="4114800"/>
          </a:xfrm>
          <a:prstGeom prst="rect">
            <a:avLst/>
          </a:prstGeom>
          <a:solidFill>
            <a:srgbClr val="F4F6FA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286000"/>
            <a:ext cx="3383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</a:rPr>
              <a:t>School pays in bulk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</a:rPr>
              <a:t>No payment prompt to student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</a:rPr>
              <a:t>Career-9 admin allocates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</a:rPr>
              <a:t>School receives plan via email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1280160"/>
            <a:ext cx="3657600" cy="822960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1325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PAID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38912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</a:rPr>
              <a:t>Self-serve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0" y="2103120"/>
            <a:ext cx="3657600" cy="41148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2286000"/>
            <a:ext cx="3383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</a:rPr>
              <a:t>Student pays per session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</a:rPr>
              <a:t>Razorpay checkout (existing)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</a:rPr>
              <a:t>Student picks counsellor + slot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</a:rPr>
              <a:t>Triggered after assessment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321040" y="1280160"/>
            <a:ext cx="3657600" cy="82296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1325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REPORT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32104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</a:rPr>
              <a:t>Free download only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321040" y="2103120"/>
            <a:ext cx="3657600" cy="4114800"/>
          </a:xfrm>
          <a:prstGeom prst="rect">
            <a:avLst/>
          </a:prstGeom>
          <a:solidFill>
            <a:srgbClr val="F4F6FA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0" y="2286000"/>
            <a:ext cx="3383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</a:rPr>
              <a:t>No counsellor involved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</a:rPr>
              <a:t>Existing report — wire CTA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</a:rPr>
              <a:t>Default fallback for all students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</a:rPr>
              <a:t>No payment, no scheduling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7315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Call-to-Action Surfaces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473"/>
                </a:solidFill>
              </a:rPr>
              <a:t>Same eligibility resolver powers all three pages — DRY by design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11064240" cy="1280160"/>
          </a:xfrm>
          <a:prstGeom prst="rect">
            <a:avLst/>
          </a:prstGeom>
          <a:solidFill>
            <a:srgbClr val="F4F6FA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80160"/>
            <a:ext cx="228600" cy="1280160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</a:rPr>
              <a:t>Landing Page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1874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473"/>
                </a:solidFill>
              </a:rPr>
              <a:t>Public visitors → marketing CTA: 'Take assessment + book counselling'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11064240" cy="1280160"/>
          </a:xfrm>
          <a:prstGeom prst="rect">
            <a:avLst/>
          </a:prstGeom>
          <a:solidFill>
            <a:srgbClr val="F4F6FA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834640"/>
            <a:ext cx="228600" cy="1280160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971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</a:rPr>
              <a:t>Assessment Result Page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3429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473"/>
                </a:solidFill>
              </a:rPr>
              <a:t>Immediately after submit → contextual CTA based on track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389120"/>
            <a:ext cx="11064240" cy="1280160"/>
          </a:xfrm>
          <a:prstGeom prst="rect">
            <a:avLst/>
          </a:prstGeom>
          <a:solidFill>
            <a:srgbClr val="F4F6FA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389120"/>
            <a:ext cx="228600" cy="1280160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526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</a:rPr>
              <a:t>Student Dashboard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4983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473"/>
                </a:solidFill>
              </a:rPr>
              <a:t>Persistent CTA card → resume booking, upcoming session, or report download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5AA8"/>
                </a:solidFill>
              </a:rPr>
              <a:t>→ GET /counselling/eligibility/{studentId}  returns: { track, action, payload }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7315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Who Uses This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2743200" cy="9601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087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Student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91840" y="1280160"/>
            <a:ext cx="8321040" cy="960120"/>
          </a:xfrm>
          <a:prstGeom prst="rect">
            <a:avLst/>
          </a:prstGeom>
          <a:solidFill>
            <a:srgbClr val="F4F6FA"/>
          </a:solidFill>
          <a:ln w="6350">
            <a:solidFill>
              <a:srgbClr val="0B2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554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</a:rPr>
              <a:t>Books, attends, gets report, may pay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2743200" cy="9601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6974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Counsellor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91840" y="2468880"/>
            <a:ext cx="8321040" cy="960120"/>
          </a:xfrm>
          <a:prstGeom prst="rect">
            <a:avLst/>
          </a:prstGeom>
          <a:solidFill>
            <a:srgbClr val="F4F6FA"/>
          </a:solidFill>
          <a:ln w="6350">
            <a:solidFill>
              <a:srgbClr val="0B25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27432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</a:rPr>
              <a:t>Self-registers, sets availability, sees allocated students + reports, logs sessions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2743200" cy="9601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8862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Career-9 Admin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291840" y="3657600"/>
            <a:ext cx="8321040" cy="960120"/>
          </a:xfrm>
          <a:prstGeom prst="rect">
            <a:avLst/>
          </a:prstGeom>
          <a:solidFill>
            <a:srgbClr val="F4F6FA"/>
          </a:solidFill>
          <a:ln w="6350">
            <a:solidFill>
              <a:srgbClr val="0B25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3931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</a:rPr>
              <a:t>Approves counsellors, creates plans, allocates counsellors, monitors sessions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846320"/>
            <a:ext cx="2743200" cy="9601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074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School (read-only)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291840" y="4846320"/>
            <a:ext cx="8321040" cy="960120"/>
          </a:xfrm>
          <a:prstGeom prst="rect">
            <a:avLst/>
          </a:prstGeom>
          <a:solidFill>
            <a:srgbClr val="F4F6FA"/>
          </a:solidFill>
          <a:ln w="6350">
            <a:solidFill>
              <a:srgbClr val="0B25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51206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</a:rPr>
              <a:t>Receives the emailed plan PDF; no UI in v1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7315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Booking Flow — 3-Step Wizard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011680" y="1371600"/>
            <a:ext cx="1188720" cy="118872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6" name="Text 4"/>
          <p:cNvSpPr/>
          <p:nvPr/>
        </p:nvSpPr>
        <p:spPr>
          <a:xfrm>
            <a:off x="2011680" y="141732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1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3749040" cy="3291840"/>
          </a:xfrm>
          <a:prstGeom prst="rect">
            <a:avLst/>
          </a:prstGeom>
          <a:solidFill>
            <a:srgbClr val="F4F6FA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8346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545"/>
                </a:solidFill>
              </a:rPr>
              <a:t>Select Counsellor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38328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</a:rPr>
              <a:t>Filter by language, mode,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</a:rPr>
              <a:t>specialisation, rating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</a:rPr>
              <a:t>Pool restricted by track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852160" y="1371600"/>
            <a:ext cx="1188720" cy="118872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0" y="141732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2</a:t>
            </a:r>
            <a:endParaRPr lang="en-US" sz="4400" dirty="0"/>
          </a:p>
        </p:txBody>
      </p:sp>
      <p:sp>
        <p:nvSpPr>
          <p:cNvPr id="12" name="Shape 10"/>
          <p:cNvSpPr/>
          <p:nvPr/>
        </p:nvSpPr>
        <p:spPr>
          <a:xfrm>
            <a:off x="4572000" y="2743200"/>
            <a:ext cx="3749040" cy="3291840"/>
          </a:xfrm>
          <a:prstGeom prst="rect">
            <a:avLst/>
          </a:prstGeom>
          <a:solidFill>
            <a:srgbClr val="F4F6FA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8346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545"/>
                </a:solidFill>
              </a:rPr>
              <a:t>Select Slot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54880" y="338328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</a:rPr>
              <a:t>Slots generated from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</a:rPr>
              <a:t>availability template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</a:rPr>
              <a:t>5-min Redis lock per slot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692640" y="1371600"/>
            <a:ext cx="1188720" cy="118872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6" name="Text 14"/>
          <p:cNvSpPr/>
          <p:nvPr/>
        </p:nvSpPr>
        <p:spPr>
          <a:xfrm>
            <a:off x="9692640" y="141732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3</a:t>
            </a:r>
            <a:endParaRPr lang="en-US" sz="4400" dirty="0"/>
          </a:p>
        </p:txBody>
      </p:sp>
      <p:sp>
        <p:nvSpPr>
          <p:cNvPr id="17" name="Shape 15"/>
          <p:cNvSpPr/>
          <p:nvPr/>
        </p:nvSpPr>
        <p:spPr>
          <a:xfrm>
            <a:off x="8412480" y="2743200"/>
            <a:ext cx="3749040" cy="3291840"/>
          </a:xfrm>
          <a:prstGeom prst="rect">
            <a:avLst/>
          </a:prstGeom>
          <a:solidFill>
            <a:srgbClr val="F4F6FA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0" y="28346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545"/>
                </a:solidFill>
              </a:rPr>
              <a:t>Select Reports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95360" y="338328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</a:rPr>
              <a:t>Pick AssessmentRawScores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</a:rPr>
              <a:t>to share with counsellor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</a:rPr>
              <a:t>Revocable consent record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0392B"/>
                </a:solidFill>
              </a:rPr>
              <a:t>PAID track inserts Razorpay checkout BEFORE step 1 — avoids wasted slot locks.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7315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Session Status Machine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473"/>
                </a:solidFill>
              </a:rPr>
              <a:t>Every transition writes an append-only log row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1828800" cy="640080"/>
          </a:xfrm>
          <a:prstGeom prst="roundRect">
            <a:avLst>
              <a:gd name="adj" fmla="val 14286"/>
            </a:avLst>
          </a:prstGeom>
          <a:solidFill>
            <a:srgbClr val="5A647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45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DRAFT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0" y="1554480"/>
            <a:ext cx="1828800" cy="640080"/>
          </a:xfrm>
          <a:prstGeom prst="roundRect">
            <a:avLst>
              <a:gd name="adj" fmla="val 14286"/>
            </a:avLst>
          </a:prstGeom>
          <a:solidFill>
            <a:srgbClr val="1E5AA8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1645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SCHEDULED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37760" y="1554480"/>
            <a:ext cx="1828800" cy="640080"/>
          </a:xfrm>
          <a:prstGeom prst="roundRect">
            <a:avLst>
              <a:gd name="adj" fmla="val 14286"/>
            </a:avLst>
          </a:prstGeom>
          <a:solidFill>
            <a:srgbClr val="1E5AA8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645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CONFIRMED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132320" y="1554480"/>
            <a:ext cx="1828800" cy="640080"/>
          </a:xfrm>
          <a:prstGeom prst="roundRect">
            <a:avLst>
              <a:gd name="adj" fmla="val 14286"/>
            </a:avLst>
          </a:prstGeom>
          <a:solidFill>
            <a:srgbClr val="F4A300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0" y="1645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IN_PROGRESS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509760" y="1554480"/>
            <a:ext cx="1828800" cy="640080"/>
          </a:xfrm>
          <a:prstGeom prst="roundRect">
            <a:avLst>
              <a:gd name="adj" fmla="val 14286"/>
            </a:avLst>
          </a:prstGeom>
          <a:solidFill>
            <a:srgbClr val="2E8B57"/>
          </a:solidFill>
          <a:ln/>
        </p:spPr>
      </p:sp>
      <p:sp>
        <p:nvSpPr>
          <p:cNvPr id="15" name="Text 13"/>
          <p:cNvSpPr/>
          <p:nvPr/>
        </p:nvSpPr>
        <p:spPr>
          <a:xfrm>
            <a:off x="9509760" y="1645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COMPLETED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560320" y="1874520"/>
            <a:ext cx="182880" cy="0"/>
          </a:xfrm>
          <a:prstGeom prst="line">
            <a:avLst/>
          </a:prstGeom>
          <a:noFill/>
          <a:ln w="2540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572000" y="1874520"/>
            <a:ext cx="365760" cy="0"/>
          </a:xfrm>
          <a:prstGeom prst="line">
            <a:avLst/>
          </a:prstGeom>
          <a:noFill/>
          <a:ln w="2540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766560" y="1874520"/>
            <a:ext cx="365760" cy="0"/>
          </a:xfrm>
          <a:prstGeom prst="line">
            <a:avLst/>
          </a:prstGeom>
          <a:noFill/>
          <a:ln w="2540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961120" y="1874520"/>
            <a:ext cx="548640" cy="0"/>
          </a:xfrm>
          <a:prstGeom prst="line">
            <a:avLst/>
          </a:prstGeom>
          <a:noFill/>
          <a:ln w="2540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31520" y="3108960"/>
            <a:ext cx="3657600" cy="594360"/>
          </a:xfrm>
          <a:prstGeom prst="roundRect">
            <a:avLst>
              <a:gd name="adj" fmla="val 12308"/>
            </a:avLst>
          </a:prstGeom>
          <a:solidFill>
            <a:srgbClr val="F4A300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RESCHEDULED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3108960"/>
            <a:ext cx="3657600" cy="594360"/>
          </a:xfrm>
          <a:prstGeom prst="roundRect">
            <a:avLst>
              <a:gd name="adj" fmla="val 12308"/>
            </a:avLst>
          </a:prstGeom>
          <a:solidFill>
            <a:srgbClr val="F4A300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COUNSELLOR_REASSIGNED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95360" y="3108960"/>
            <a:ext cx="3657600" cy="594360"/>
          </a:xfrm>
          <a:prstGeom prst="roundRect">
            <a:avLst>
              <a:gd name="adj" fmla="val 12308"/>
            </a:avLst>
          </a:prstGeom>
          <a:solidFill>
            <a:srgbClr val="1E5AA8"/>
          </a:solidFill>
          <a:ln/>
        </p:spPr>
      </p:sp>
      <p:sp>
        <p:nvSpPr>
          <p:cNvPr id="25" name="Text 23"/>
          <p:cNvSpPr/>
          <p:nvPr/>
        </p:nvSpPr>
        <p:spPr>
          <a:xfrm>
            <a:off x="859536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MODE_CHANGED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1520" y="3886200"/>
            <a:ext cx="3657600" cy="594360"/>
          </a:xfrm>
          <a:prstGeom prst="roundRect">
            <a:avLst>
              <a:gd name="adj" fmla="val 12308"/>
            </a:avLst>
          </a:prstGeom>
          <a:solidFill>
            <a:srgbClr val="C0392B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3977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CANCELLED_BY_STUDENT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63440" y="3886200"/>
            <a:ext cx="3657600" cy="594360"/>
          </a:xfrm>
          <a:prstGeom prst="roundRect">
            <a:avLst>
              <a:gd name="adj" fmla="val 12308"/>
            </a:avLst>
          </a:prstGeom>
          <a:solidFill>
            <a:srgbClr val="C0392B"/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3977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CANCELLED_BY_COUNSELLOR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595360" y="3886200"/>
            <a:ext cx="3657600" cy="594360"/>
          </a:xfrm>
          <a:prstGeom prst="roundRect">
            <a:avLst>
              <a:gd name="adj" fmla="val 12308"/>
            </a:avLst>
          </a:prstGeom>
          <a:solidFill>
            <a:srgbClr val="C0392B"/>
          </a:solidFill>
          <a:ln/>
        </p:spPr>
      </p:sp>
      <p:sp>
        <p:nvSpPr>
          <p:cNvPr id="31" name="Text 29"/>
          <p:cNvSpPr/>
          <p:nvPr/>
        </p:nvSpPr>
        <p:spPr>
          <a:xfrm>
            <a:off x="8595360" y="3977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NO_SHOW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5120640"/>
            <a:ext cx="11064240" cy="128016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521208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</a:rPr>
              <a:t>All transitions require: actor, reason, from_state, to_state, metadata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</a:rPr>
              <a:t>Append-only — counselling_session_log is the audit source of truth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</a:rPr>
              <a:t>Reschedule / reassign loop back to SCHEDULED; cancellation is terminal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7315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Lifecycle Scenarios &amp; How We Handle Them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457200" y="1280160"/>
          <a:ext cx="11247120" cy="4663440"/>
        </p:xfrm>
        <a:graphic>
          <a:graphicData uri="http://schemas.openxmlformats.org/drawingml/2006/table">
            <a:tbl>
              <a:tblPr/>
              <a:tblGrid>
                <a:gridCol w="2377440"/>
                <a:gridCol w="3108960"/>
                <a:gridCol w="5760720"/>
              </a:tblGrid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Trigger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How It's Handled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</a:rPr>
                        <a:t>1. Time shifting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</a:rPr>
                        <a:t>Either party requests new slot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</a:rPr>
                        <a:t>POST /reschedule → new lock + log; max 2 per session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</a:rPr>
                        <a:t>2. Counsellor reassign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</a:rPr>
                        <a:t>Original counsellor unavailable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</a:rPr>
                        <a:t>Admin POST /reassign; system suggests matching counsellors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</a:rPr>
                        <a:t>3. Counsellor onboarding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</a:rPr>
                        <a:t>New counsellor self-registers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</a:rPr>
                        <a:t>INVITED → DOCS_PENDING → UNDER_REVIEW → ACTIVE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</a:rPr>
                        <a:t>4. Cancellation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</a:rPr>
                        <a:t>Either party cancels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</a:rPr>
                        <a:t>Slot freed; payment retained (no refund engine in v1)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</a:rPr>
                        <a:t>5. Offline ↔ Online flip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</a:rPr>
                        <a:t>Mode changed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</a:rPr>
                        <a:t>PATCH /mode → auto-creates Meet link or sets campus venue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7315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Counsellor Onboarding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473"/>
                </a:solidFill>
              </a:rPr>
              <a:t>Self-registration → admin approval queue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5AA8"/>
                </a:solidFill>
              </a:rPr>
              <a:t>Mandatory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56692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</a:rPr>
              <a:t>Full name, email (verified), phone (OTP)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</a:rPr>
              <a:t>Govt ID — store hash + last 4 digits only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</a:rPr>
              <a:t>Qualifications &amp; certifications (file uploads)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</a:rPr>
              <a:t>Specialisations + languages spoken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</a:rPr>
              <a:t>Mode capability: online / offline / both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</a:rPr>
              <a:t>Bank details (IFSC, account, name)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</a:rPr>
              <a:t>Signed agreement PDF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A300"/>
                </a:solidFill>
              </a:rPr>
              <a:t>Optional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1691640"/>
            <a:ext cx="52120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</a:rPr>
              <a:t>Years of experience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</a:rPr>
              <a:t>LinkedIn profile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</a:rPr>
              <a:t>Intro video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</a:rPr>
              <a:t>Hourly rate preference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</a:rPr>
              <a:t>Max sessions per day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</a:rPr>
              <a:t>Profile photo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B2545"/>
                </a:solidFill>
              </a:rPr>
              <a:t>Status: INVITED → DOCS_PENDING → UNDER_REVIEW → ACTIVE → SUSPENDED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7315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System Architecture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515600" cy="914400"/>
          </a:xfrm>
          <a:prstGeom prst="rect">
            <a:avLst/>
          </a:prstGeom>
          <a:solidFill>
            <a:srgbClr val="1E5AA8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173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React SPA — Student / Counsellor / Admin dashboards (3 CTA surfaces)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468880"/>
            <a:ext cx="10515600" cy="2377440"/>
          </a:xfrm>
          <a:prstGeom prst="rect">
            <a:avLst/>
          </a:prstGeom>
          <a:solidFill>
            <a:srgbClr val="F4F6FA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514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</a:rPr>
              <a:t>Spring Boot API  (controller/career9/counselling/)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05840" y="297180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0632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</a:rPr>
              <a:t>Eligibility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</a:rPr>
              <a:t>Resolver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11880" y="297180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30632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</a:rPr>
              <a:t>Booking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</a:rPr>
              <a:t>Service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97180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30632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</a:rPr>
              <a:t>Slot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</a:rPr>
              <a:t>Generator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823960" y="297180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23960" y="30632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</a:rPr>
              <a:t>Status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</a:rPr>
              <a:t>Machine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05840" y="384048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9319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</a:rPr>
              <a:t>Notification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</a:rPr>
              <a:t>Service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11880" y="384048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11880" y="39319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</a:rPr>
              <a:t>Payment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</a:rPr>
              <a:t>Adapter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384048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39319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</a:rPr>
              <a:t>Calendar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</a:rPr>
              <a:t>Integration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823960" y="384048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23960" y="39319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</a:rPr>
              <a:t>Audit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</a:rPr>
              <a:t>Logger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5212080"/>
            <a:ext cx="2103120" cy="100584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30352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MySQL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(career-9)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063240" y="5212080"/>
            <a:ext cx="2103120" cy="1005840"/>
          </a:xfrm>
          <a:prstGeom prst="rect">
            <a:avLst/>
          </a:prstGeom>
          <a:solidFill>
            <a:srgbClr val="1E5AA8"/>
          </a:solidFill>
          <a:ln/>
        </p:spPr>
      </p:sp>
      <p:sp>
        <p:nvSpPr>
          <p:cNvPr id="28" name="Text 26"/>
          <p:cNvSpPr/>
          <p:nvPr/>
        </p:nvSpPr>
        <p:spPr>
          <a:xfrm>
            <a:off x="3063240" y="530352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Razorpay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394960" y="5212080"/>
            <a:ext cx="2103120" cy="100584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30" name="Text 28"/>
          <p:cNvSpPr/>
          <p:nvPr/>
        </p:nvSpPr>
        <p:spPr>
          <a:xfrm>
            <a:off x="5394960" y="530352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Google Meet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(Calendar API)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726680" y="5212080"/>
            <a:ext cx="2103120" cy="1005840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32" name="Text 30"/>
          <p:cNvSpPr/>
          <p:nvPr/>
        </p:nvSpPr>
        <p:spPr>
          <a:xfrm>
            <a:off x="7726680" y="530352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Odoo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(email)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0058400" y="5212080"/>
            <a:ext cx="2103120" cy="1005840"/>
          </a:xfrm>
          <a:prstGeom prst="rect">
            <a:avLst/>
          </a:prstGeom>
          <a:solidFill>
            <a:srgbClr val="5A6473"/>
          </a:solidFill>
          <a:ln/>
        </p:spPr>
      </p:sp>
      <p:sp>
        <p:nvSpPr>
          <p:cNvPr id="34" name="Text 32"/>
          <p:cNvSpPr/>
          <p:nvPr/>
        </p:nvSpPr>
        <p:spPr>
          <a:xfrm>
            <a:off x="10058400" y="530352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WhatsApp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(provider TBD)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7315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 Model — New Tables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657600" cy="868680"/>
          </a:xfrm>
          <a:prstGeom prst="rect">
            <a:avLst/>
          </a:prstGeom>
          <a:solidFill>
            <a:srgbClr val="F4F6FA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80160"/>
            <a:ext cx="3657600" cy="292608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984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counsellor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3"/>
                </a:solidFill>
              </a:rPr>
              <a:t>PK + FKs + audit cols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1280160"/>
            <a:ext cx="3657600" cy="868680"/>
          </a:xfrm>
          <a:prstGeom prst="rect">
            <a:avLst/>
          </a:prstGeom>
          <a:solidFill>
            <a:srgbClr val="F4F6FA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280160"/>
            <a:ext cx="3657600" cy="292608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2984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counsellor_availability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1645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3"/>
                </a:solidFill>
              </a:rPr>
              <a:t>PK + FKs + audit cols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412480" y="1280160"/>
            <a:ext cx="3657600" cy="868680"/>
          </a:xfrm>
          <a:prstGeom prst="rect">
            <a:avLst/>
          </a:prstGeom>
          <a:solidFill>
            <a:srgbClr val="F4F6FA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0" y="1280160"/>
            <a:ext cx="3657600" cy="292608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0" y="12984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counsellor_availability_exception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03920" y="1645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3"/>
                </a:solidFill>
              </a:rPr>
              <a:t>PK + FKs + audit cols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331720"/>
            <a:ext cx="3657600" cy="868680"/>
          </a:xfrm>
          <a:prstGeom prst="rect">
            <a:avLst/>
          </a:prstGeom>
          <a:solidFill>
            <a:srgbClr val="F4F6FA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331720"/>
            <a:ext cx="3657600" cy="292608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3500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counselling_plan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2697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3"/>
                </a:solidFill>
              </a:rPr>
              <a:t>PK + FKs + audit cols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80560" y="2331720"/>
            <a:ext cx="3657600" cy="868680"/>
          </a:xfrm>
          <a:prstGeom prst="rect">
            <a:avLst/>
          </a:prstGeom>
          <a:solidFill>
            <a:srgbClr val="F4F6FA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0" y="2331720"/>
            <a:ext cx="3657600" cy="292608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0" y="23500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counselling_allocation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0" y="2697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3"/>
                </a:solidFill>
              </a:rPr>
              <a:t>PK + FKs + audit cols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412480" y="2331720"/>
            <a:ext cx="3657600" cy="868680"/>
          </a:xfrm>
          <a:prstGeom prst="rect">
            <a:avLst/>
          </a:prstGeom>
          <a:solidFill>
            <a:srgbClr val="F4F6FA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12480" y="2331720"/>
            <a:ext cx="3657600" cy="292608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23500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counselling_session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503920" y="2697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3"/>
                </a:solidFill>
              </a:rPr>
              <a:t>PK + FKs + audit cols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3383280"/>
            <a:ext cx="3657600" cy="868680"/>
          </a:xfrm>
          <a:prstGeom prst="rect">
            <a:avLst/>
          </a:prstGeom>
          <a:solidFill>
            <a:srgbClr val="F4F6FA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3383280"/>
            <a:ext cx="3657600" cy="292608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4015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counselling_session_log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" y="3749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3"/>
                </a:solidFill>
              </a:rPr>
              <a:t>PK + FKs + audit cols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480560" y="3383280"/>
            <a:ext cx="3657600" cy="868680"/>
          </a:xfrm>
          <a:prstGeom prst="rect">
            <a:avLst/>
          </a:prstGeom>
          <a:solidFill>
            <a:srgbClr val="F4F6FA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80560" y="3383280"/>
            <a:ext cx="3657600" cy="292608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0" y="34015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counselling_offline_log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0" y="3749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3"/>
                </a:solidFill>
              </a:rPr>
              <a:t>PK + FKs + audit cols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412480" y="3383280"/>
            <a:ext cx="3657600" cy="868680"/>
          </a:xfrm>
          <a:prstGeom prst="rect">
            <a:avLst/>
          </a:prstGeom>
          <a:solidFill>
            <a:srgbClr val="F4F6FA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3383280"/>
            <a:ext cx="3657600" cy="292608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9" name="Text 37"/>
          <p:cNvSpPr/>
          <p:nvPr/>
        </p:nvSpPr>
        <p:spPr>
          <a:xfrm>
            <a:off x="8503920" y="34015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counselling_payment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503920" y="3749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3"/>
                </a:solidFill>
              </a:rPr>
              <a:t>PK + FKs + audit cols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8640" y="4434840"/>
            <a:ext cx="3657600" cy="868680"/>
          </a:xfrm>
          <a:prstGeom prst="rect">
            <a:avLst/>
          </a:prstGeom>
          <a:solidFill>
            <a:srgbClr val="F4F6FA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" y="4434840"/>
            <a:ext cx="3657600" cy="292608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" y="44531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counselling_report_share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40080" y="4800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3"/>
                </a:solidFill>
              </a:rPr>
              <a:t>PK + FKs + audit cols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480560" y="4434840"/>
            <a:ext cx="3657600" cy="868680"/>
          </a:xfrm>
          <a:prstGeom prst="rect">
            <a:avLst/>
          </a:prstGeom>
          <a:solidFill>
            <a:srgbClr val="F4F6FA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480560" y="4434840"/>
            <a:ext cx="3657600" cy="292608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0" y="44531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counsellor_expense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572000" y="4800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3"/>
                </a:solidFill>
              </a:rPr>
              <a:t>PK + FKs + audit cols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B2545"/>
                </a:solidFill>
              </a:rPr>
              <a:t>All new tables live in MySQL database  career-9.   Invariants: 1 session = 1 allocation • mode lives on session • logs append-only.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7315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Notifications Matrix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473"/>
                </a:solidFill>
              </a:rPr>
              <a:t>Email (Odoo) + WhatsApp (provider abstracted)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548640" y="1371600"/>
          <a:ext cx="11064240" cy="4526280"/>
        </p:xfrm>
        <a:graphic>
          <a:graphicData uri="http://schemas.openxmlformats.org/drawingml/2006/table">
            <a:tbl>
              <a:tblPr/>
              <a:tblGrid>
                <a:gridCol w="3931920"/>
                <a:gridCol w="2377440"/>
                <a:gridCol w="2377440"/>
                <a:gridCol w="2377440"/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Event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Student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Counsellor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School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Plan created (EVENT)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Email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Email + PDF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Booking confirmed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Email + WA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Email + WA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24h reminder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WA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WA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Reschedule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Email + WA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Email + WA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Counsellor reassigned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Email + WA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Both old+new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Mode changed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Email + WA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Email + WA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Cancellation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Email + WA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Email + WA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Session completed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Email (+ report)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5AA8"/>
                </a:solidFill>
              </a:rPr>
              <a:t>Email goes through Odoo (existing transactional channel). WhatsApp behind WhatsAppProvider interface — vendor chosen later.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7315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Out of Scope for v1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473"/>
                </a:solidFill>
              </a:rPr>
              <a:t>Conscious cuts — to be revisited post-launch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0B2545"/>
                </a:solidFill>
              </a:rPr>
              <a:t>Refund engine — payments are retained on cancel (placeholder column added)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0B2545"/>
                </a:solidFill>
              </a:rPr>
              <a:t>School-facing admin UI — schools receive emailed plans only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0B2545"/>
                </a:solidFill>
              </a:rPr>
              <a:t>Counsellor ratings &amp; reviews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0B2545"/>
                </a:solidFill>
              </a:rPr>
              <a:t>Group / multi-student sessions — strict 1:1 in v1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0B2545"/>
                </a:solidFill>
              </a:rPr>
              <a:t>AI-assisted counsellor matching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0B2545"/>
                </a:solidFill>
              </a:rPr>
              <a:t>Recurring session packages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0B2545"/>
                </a:solidFill>
              </a:rPr>
              <a:t>In-app video — Google Meet link only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0B2545"/>
                </a:solidFill>
              </a:rPr>
              <a:t>Session recording / transcripts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0B2545"/>
                </a:solidFill>
              </a:rPr>
              <a:t>Counsellor mobile app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0B2545"/>
                </a:solidFill>
              </a:rPr>
              <a:t>Waitlist when no slots available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7315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Risks &amp; Mitigations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457200" y="1280160"/>
          <a:ext cx="11247120" cy="4754880"/>
        </p:xfrm>
        <a:graphic>
          <a:graphicData uri="http://schemas.openxmlformats.org/drawingml/2006/table">
            <a:tbl>
              <a:tblPr/>
              <a:tblGrid>
                <a:gridCol w="3657600"/>
                <a:gridCol w="1188720"/>
                <a:gridCol w="6400800"/>
              </a:tblGrid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Impact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Mitigation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Slot double-booking race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Redis lock with 5-min TTL + DB unique constraint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Counsellor no-show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NO_SHOW state + performance metric + auto-reassign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WhatsApp template approval delay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4A300"/>
                          </a:solidFill>
                        </a:rPr>
                        <a:t>Med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Draft templates in Phase 1; email-only fallback works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Counsellor onboarding drop-off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4A300"/>
                          </a:solidFill>
                        </a:rPr>
                        <a:t>Med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Save partial state; admin can prefill on counsellor's behalf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Payment success but slot taken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Lock slot BEFORE checkout; refund manually if it occurs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Schema drift from ddl-auto:update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4A300"/>
                          </a:solidFill>
                        </a:rPr>
                        <a:t>Med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Manual SQL review for new tables; backup before deploy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Disputes on offline sessions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4A300"/>
                          </a:solidFill>
                        </a:rPr>
                        <a:t>Med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Mandatory offline log: attendance + signature + photos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7315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Success Metrics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394960" cy="1371600"/>
          </a:xfrm>
          <a:prstGeom prst="rect">
            <a:avLst/>
          </a:prstGeom>
          <a:solidFill>
            <a:srgbClr val="F4F6FA"/>
          </a:solidFill>
          <a:ln w="25400">
            <a:solidFill>
              <a:srgbClr val="1E5A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182880" cy="1371600"/>
          </a:xfrm>
          <a:prstGeom prst="rect">
            <a:avLst/>
          </a:prstGeom>
          <a:solidFill>
            <a:srgbClr val="1E5AA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5544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</a:rPr>
              <a:t>Bookings / week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0574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73"/>
                </a:solidFill>
              </a:rPr>
              <a:t>Volume target post-launch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5394960" cy="1371600"/>
          </a:xfrm>
          <a:prstGeom prst="rect">
            <a:avLst/>
          </a:prstGeom>
          <a:solidFill>
            <a:srgbClr val="F4F6FA"/>
          </a:solidFill>
          <a:ln w="25400">
            <a:solidFill>
              <a:srgbClr val="F4A3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371600"/>
            <a:ext cx="182880" cy="1371600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5544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</a:rPr>
              <a:t>No-show rate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83680" y="20574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73"/>
                </a:solidFill>
              </a:rPr>
              <a:t>&lt; 10% (industry benchmark)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5394960" cy="1371600"/>
          </a:xfrm>
          <a:prstGeom prst="rect">
            <a:avLst/>
          </a:prstGeom>
          <a:solidFill>
            <a:srgbClr val="F4F6FA"/>
          </a:solidFill>
          <a:ln w="25400">
            <a:solidFill>
              <a:srgbClr val="2E8B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6080"/>
            <a:ext cx="182880" cy="13716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1089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</a:rPr>
              <a:t>Counsellor utilisation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14400" y="36118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73"/>
                </a:solidFill>
              </a:rPr>
              <a:t>% of available slots booked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2926080"/>
            <a:ext cx="5394960" cy="1371600"/>
          </a:xfrm>
          <a:prstGeom prst="rect">
            <a:avLst/>
          </a:prstGeom>
          <a:solidFill>
            <a:srgbClr val="F4F6FA"/>
          </a:solidFill>
          <a:ln w="25400">
            <a:solidFill>
              <a:srgbClr val="0B25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2926080"/>
            <a:ext cx="182880" cy="13716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31089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</a:rPr>
              <a:t>Revenue / student (PAID)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83680" y="36118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73"/>
                </a:solidFill>
              </a:rPr>
              <a:t>Avg session price × attach rate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480560"/>
            <a:ext cx="5394960" cy="1371600"/>
          </a:xfrm>
          <a:prstGeom prst="rect">
            <a:avLst/>
          </a:prstGeom>
          <a:solidFill>
            <a:srgbClr val="F4F6FA"/>
          </a:solidFill>
          <a:ln w="25400">
            <a:solidFill>
              <a:srgbClr val="1E5A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480560"/>
            <a:ext cx="182880" cy="1371600"/>
          </a:xfrm>
          <a:prstGeom prst="rect">
            <a:avLst/>
          </a:prstGeom>
          <a:solidFill>
            <a:srgbClr val="1E5AA8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6634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</a:rPr>
              <a:t>Time to first booking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14400" y="51663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73"/>
                </a:solidFill>
              </a:rPr>
              <a:t>Assessment-end → confirmed slot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17920" y="4480560"/>
            <a:ext cx="5394960" cy="1371600"/>
          </a:xfrm>
          <a:prstGeom prst="rect">
            <a:avLst/>
          </a:prstGeom>
          <a:solidFill>
            <a:srgbClr val="F4F6FA"/>
          </a:solidFill>
          <a:ln w="25400">
            <a:solidFill>
              <a:srgbClr val="2E8B5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4480560"/>
            <a:ext cx="182880" cy="13716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46634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</a:rPr>
              <a:t>Student NPS post-session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583680" y="51663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73"/>
                </a:solidFill>
              </a:rPr>
              <a:t>&gt; 50 target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7315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Decisions Locked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473"/>
                </a:solidFill>
              </a:rPr>
              <a:t>Confirmed in stakeholder discussion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7899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B2545"/>
                </a:solidFill>
              </a:rPr>
              <a:t>Payment provider: Razorpay (existing integration reused)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B2545"/>
                </a:solidFill>
              </a:rPr>
              <a:t>Pricing model: per-session = per-student (1:1 always)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B2545"/>
                </a:solidFill>
              </a:rPr>
              <a:t>Allocation: Career-9 admin assigns; school receives plan PDF only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B2545"/>
                </a:solidFill>
              </a:rPr>
              <a:t>Counsellors: self-register, admin approves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B2545"/>
                </a:solidFill>
              </a:rPr>
              <a:t>Online platform: Google Meet via Calendar API (google.json already in place)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B2545"/>
                </a:solidFill>
              </a:rPr>
              <a:t>Notifications: Email via Odoo + WhatsApp (provider TBD, abstracted)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B2545"/>
                </a:solidFill>
              </a:rPr>
              <a:t>Database: career-9 (MySQL) — all new tables added here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B2545"/>
                </a:solidFill>
              </a:rPr>
              <a:t>Offline venue: school campus only — no service-area or pincode logic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B2545"/>
                </a:solidFill>
              </a:rPr>
              <a:t>Session structure: strict 1:1, no multi-counsellor, no group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B2545"/>
                </a:solidFill>
              </a:rPr>
              <a:t>Refund policy: none in v1 — placeholder for later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B2545"/>
                </a:solidFill>
              </a:rPr>
              <a:t>Report: existing PDF — wire download CTA, no new generator needed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7315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Open Items &amp; 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A300"/>
                </a:solidFill>
              </a:rPr>
              <a:t>Still to decide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6692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</a:rPr>
              <a:t>WhatsApp vendor (Gupshup / Twilio / Meta direct)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</a:rPr>
              <a:t>Counsellor payout cadence (weekly / monthly)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</a:rPr>
              <a:t>Cancellation window / penalty rules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</a:rPr>
              <a:t>Reminder timing (24h? 1h? both?)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</a:rPr>
              <a:t>Per-counsellor max sessions/day cap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B57"/>
                </a:solidFill>
              </a:rPr>
              <a:t>Immediate next steps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691640"/>
            <a:ext cx="52120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</a:rPr>
              <a:t>Approve plan &amp; phasing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</a:rPr>
              <a:t>Draft WhatsApp message templates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</a:rPr>
              <a:t>Stand up DB migrations + entities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</a:rPr>
              <a:t>Wireframe the 3-step booking wizard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B2545"/>
                </a:solidFill>
              </a:rPr>
              <a:t>Kick off Phase 1 implementation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5852160"/>
            <a:ext cx="11064240" cy="7315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Ready to kick off Phase 1 on approval.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926080"/>
            <a:ext cx="12188952" cy="45720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82880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</a:rPr>
              <a:t>Thank You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0" y="310896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C9D6E8"/>
                </a:solidFill>
              </a:rPr>
              <a:t>Questions &amp; Discussion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61264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D6E8"/>
                </a:solidFill>
              </a:rPr>
              <a:t>Career-9 Counselling Module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1307</Words>
  <Application>Microsoft Office PowerPoint</Application>
  <PresentationFormat>Custom</PresentationFormat>
  <Paragraphs>307</Paragraphs>
  <Slides>18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Counselling Module</dc:title>
  <dc:subject>PptxGenJS Presentation</dc:subject>
  <dc:creator>Career-9</dc:creator>
  <cp:lastModifiedBy>pop</cp:lastModifiedBy>
  <cp:revision>2</cp:revision>
  <dcterms:created xsi:type="dcterms:W3CDTF">2026-04-14T11:48:03Z</dcterms:created>
  <dcterms:modified xsi:type="dcterms:W3CDTF">2026-04-15T10:00:18Z</dcterms:modified>
</cp:coreProperties>
</file>